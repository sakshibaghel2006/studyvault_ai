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1554480"/>
            <a:ext cx="182880" cy="18288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7315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2377440"/>
            <a:ext cx="402336" cy="402336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182880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301752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857232" y="1170432"/>
            <a:ext cx="566928" cy="429768"/>
          </a:xfrm>
          <a:prstGeom prst="line">
            <a:avLst/>
          </a:prstGeom>
          <a:noFill/>
          <a:ln w="12700">
            <a:solidFill>
              <a:srgbClr val="3E5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859536"/>
            <a:ext cx="768096" cy="740664"/>
          </a:xfrm>
          <a:prstGeom prst="line">
            <a:avLst/>
          </a:prstGeom>
          <a:noFill/>
          <a:ln w="12700">
            <a:solidFill>
              <a:srgbClr val="3E5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600200"/>
            <a:ext cx="475488" cy="877824"/>
          </a:xfrm>
          <a:prstGeom prst="line">
            <a:avLst/>
          </a:prstGeom>
          <a:noFill/>
          <a:ln w="12700">
            <a:solidFill>
              <a:srgbClr val="3E5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99648" y="1874520"/>
            <a:ext cx="576072" cy="603504"/>
          </a:xfrm>
          <a:prstGeom prst="line">
            <a:avLst/>
          </a:prstGeom>
          <a:noFill/>
          <a:ln w="12700">
            <a:solidFill>
              <a:srgbClr val="3E5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57232" y="1170432"/>
            <a:ext cx="219456" cy="1901952"/>
          </a:xfrm>
          <a:prstGeom prst="line">
            <a:avLst/>
          </a:prstGeom>
          <a:noFill/>
          <a:ln w="12700">
            <a:solidFill>
              <a:srgbClr val="3E5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4892040"/>
            <a:ext cx="1554480" cy="4114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CFE8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5093208"/>
            <a:ext cx="1554480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5943600"/>
            <a:ext cx="1554480" cy="4114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CFE8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5394960"/>
            <a:ext cx="1554480" cy="0"/>
          </a:xfrm>
          <a:prstGeom prst="line">
            <a:avLst/>
          </a:prstGeom>
          <a:noFill/>
          <a:ln w="12700">
            <a:solidFill>
              <a:srgbClr val="CFE8F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371600" y="5669280"/>
            <a:ext cx="1554480" cy="0"/>
          </a:xfrm>
          <a:prstGeom prst="line">
            <a:avLst/>
          </a:prstGeom>
          <a:noFill/>
          <a:ln w="12700">
            <a:solidFill>
              <a:srgbClr val="CFE8F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 SYSTEMS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 ·  Concepts, Architecture, ER Modeling &amp; SQL Fundamentals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8872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Class, CS Department  ·  1st Semester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meaning, one layer at a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2514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 with no meaning on their own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4069080"/>
            <a:ext cx="2185416" cy="18288"/>
          </a:xfrm>
          <a:prstGeom prst="rect">
            <a:avLst/>
          </a:prstGeom>
          <a:solidFill>
            <a:srgbClr val="E3ECF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2062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 ABC   19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3378708"/>
            <a:ext cx="265176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87452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87452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2148840"/>
            <a:ext cx="2514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4904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39312" y="2560320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items organized together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39312" y="4069080"/>
            <a:ext cx="2185416" cy="18288"/>
          </a:xfrm>
          <a:prstGeom prst="rect">
            <a:avLst/>
          </a:prstGeom>
          <a:solidFill>
            <a:srgbClr val="E3ECF1"/>
          </a:solidFill>
          <a:ln/>
        </p:spPr>
      </p:sp>
      <p:sp>
        <p:nvSpPr>
          <p:cNvPr id="20" name="Text 18"/>
          <p:cNvSpPr/>
          <p:nvPr/>
        </p:nvSpPr>
        <p:spPr>
          <a:xfrm>
            <a:off x="3639312" y="42062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01 | Name ABC | Age 19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16752" y="3378708"/>
            <a:ext cx="265176" cy="237744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87452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87452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2148840"/>
            <a:ext cx="2514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4904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936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/ RELATION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73952" y="2560320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related records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73952" y="4069080"/>
            <a:ext cx="2185416" cy="18288"/>
          </a:xfrm>
          <a:prstGeom prst="rect">
            <a:avLst/>
          </a:prstGeom>
          <a:solidFill>
            <a:srgbClr val="E3ECF1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42062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student rows, same columns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851392" y="3378708"/>
            <a:ext cx="265176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0" y="187452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0" y="187452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0" y="2148840"/>
            <a:ext cx="2514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0" y="14904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14400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308592" y="2560320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related tables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308592" y="4069080"/>
            <a:ext cx="2185416" cy="18288"/>
          </a:xfrm>
          <a:prstGeom prst="rect">
            <a:avLst/>
          </a:prstGeom>
          <a:solidFill>
            <a:srgbClr val="E3ECF1"/>
          </a:solidFill>
          <a:ln/>
        </p:spPr>
      </p:sp>
      <p:sp>
        <p:nvSpPr>
          <p:cNvPr id="38" name="Text 36"/>
          <p:cNvSpPr/>
          <p:nvPr/>
        </p:nvSpPr>
        <p:spPr>
          <a:xfrm>
            <a:off x="9308592" y="42062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+ Address + Year + Hostel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 related collection of tables, connected through common attributes (e.g. Roll No.), that lets us answer questions spanning multiple tables.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Files?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that gave rise to database management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752344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 w="15875">
            <a:solidFill>
              <a:srgbClr val="E3B8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B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FILE-ORIENTED SYSTEM — DISADVANTAGES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359152"/>
            <a:ext cx="128016" cy="128016"/>
          </a:xfrm>
          <a:prstGeom prst="ellipse">
            <a:avLst/>
          </a:prstGeom>
          <a:solidFill>
            <a:srgbClr val="C1595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768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255117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duplicated across files, wasting space and risking inconsistency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128016" cy="128016"/>
          </a:xfrm>
          <a:prstGeom prst="ellipse">
            <a:avLst/>
          </a:prstGeom>
          <a:solidFill>
            <a:srgbClr val="C1595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266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Access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330098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flexible way to retrieve data beyond pre-written programs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858768"/>
            <a:ext cx="128016" cy="128016"/>
          </a:xfrm>
          <a:prstGeom prst="ellipse">
            <a:avLst/>
          </a:prstGeom>
          <a:solidFill>
            <a:srgbClr val="C1595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7764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0507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files in different formats make new programs hard to write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737360"/>
            <a:ext cx="5257800" cy="2752344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828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DBMS SOLVES IT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92240" y="23591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2768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Control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66560" y="255117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managed repository removes duplication and keeps data consistent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1089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0266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 (SQL)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66560" y="330098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retrieval — describe what you need, not how to fetch 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38587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7764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66560" y="40507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logical structure links all related data together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809744"/>
            <a:ext cx="5257800" cy="1819656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5875">
            <a:solidFill>
              <a:srgbClr val="E3B8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038344"/>
            <a:ext cx="128016" cy="128016"/>
          </a:xfrm>
          <a:prstGeom prst="ellipse">
            <a:avLst/>
          </a:prstGeom>
          <a:solidFill>
            <a:srgbClr val="C1595A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49560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Issues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43000" y="52303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updates can corrupt or lose data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" y="5788152"/>
            <a:ext cx="128016" cy="128016"/>
          </a:xfrm>
          <a:prstGeom prst="ellipse">
            <a:avLst/>
          </a:prstGeom>
          <a:solidFill>
            <a:srgbClr val="C1595A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57058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Integrity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43000" y="59801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buried in application code, hard to enforce or change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4809744"/>
            <a:ext cx="5257800" cy="1819656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503834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49560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Rules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766560" y="52303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read/insert/update/delete permissions per user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92240" y="57881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57058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766560" y="59801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atomicity &amp; consistency, even after a crash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a DBMS?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of centralized data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7784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194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6464" y="21671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Redundancy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8346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avoids duplicate storage and saves space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02936" y="21671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Sharing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2856" y="28346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applications and users can access the same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0728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194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79408" y="21671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9328" y="28346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ensure stored data stays accurate and valid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57784" y="42062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434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26464" y="44074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Security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86384" y="5074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DBA restricts access through proper authorization channels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4256" y="42062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02936" y="44074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62856" y="5074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redundancy removes conflicting copies of data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0728" y="42062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4434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79408" y="44074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39328" y="5074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changes don't break application programs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Data Abstraction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complexity so every kind of user can work efficiently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Data Abstraction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complexity so every kind of user can work efficiently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68396" y="1874520"/>
            <a:ext cx="5852160" cy="1078992"/>
          </a:xfrm>
          <a:prstGeom prst="roundRect">
            <a:avLst>
              <a:gd name="adj" fmla="val 7627"/>
            </a:avLst>
          </a:prstGeom>
          <a:solidFill>
            <a:srgbClr val="1C7293"/>
          </a:solidFill>
          <a:ln w="12700">
            <a:solidFill>
              <a:srgbClr val="3E5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4156" y="19842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LEVEL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34156" y="22951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34156" y="25328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only the part of the database a specific user sees (e.g. a registrar clerk sees students, not salaries).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2253996" y="3099816"/>
            <a:ext cx="7680960" cy="1078992"/>
          </a:xfrm>
          <a:prstGeom prst="roundRect">
            <a:avLst>
              <a:gd name="adj" fmla="val 7627"/>
            </a:avLst>
          </a:prstGeom>
          <a:solidFill>
            <a:srgbClr val="065A82"/>
          </a:solidFill>
          <a:ln w="12700">
            <a:solidFill>
              <a:srgbClr val="3E5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9756" y="320954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LEVEL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19756" y="35204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19756" y="3758184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what data is stored and the relationships among it. Used by DBAs and programmers.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1339596" y="4325112"/>
            <a:ext cx="9509760" cy="1078992"/>
          </a:xfrm>
          <a:prstGeom prst="roundRect">
            <a:avLst>
              <a:gd name="adj" fmla="val 7627"/>
            </a:avLst>
          </a:prstGeom>
          <a:solidFill>
            <a:srgbClr val="163A57"/>
          </a:solidFill>
          <a:ln w="12700">
            <a:solidFill>
              <a:srgbClr val="3E5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5356" y="44348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LEVEL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05356" y="474573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Schema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05356" y="498348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how data is actually stored — low-level structures, indexes, and files on disk.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pPr algn="ctr" indent="0" marL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data stored at a given moment.   </a:t>
            </a:r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pPr algn="ctr" indent="0" marL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overall (rarely-changing) design of the database.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Models &amp; Database Languages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conceptual tools and languages behind every DBMS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82296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377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883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relationships as tables (rows/columns) — most widely used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0080" y="3255264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55264"/>
            <a:ext cx="82296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3467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(E-R)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3657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 — used heavily in database design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0080" y="4224528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224528"/>
            <a:ext cx="82296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315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Object-Based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46268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E-R with encapsulation, methods, and object identity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40080" y="5193792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193792"/>
            <a:ext cx="82296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285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55961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of the same type may have different attributes (e.g. XML)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492240" y="18745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LANGUAGES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2860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4231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Data Definition Language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66560" y="2770632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schema and constraints: tables, domains, referential integrity, assertions, and authorization. Output is stored in the data dictionary (metadata).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425196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43891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Data Manipulation Language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66560" y="4736592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Retrieves, inserts, deletes, and modifies data. Declarative DMLs (e.g. SQL) state what data is needed, not how to fetch it — easier to learn than procedural DMLs.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Modeling Building Blocks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technique for organizing data before implementation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" y="19202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3916" y="2084832"/>
            <a:ext cx="137160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16636" y="2852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9516" y="31638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distinguishable real-world object (e.g. Employee)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1396" y="19202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17236" y="2084832"/>
            <a:ext cx="155448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11396" y="2852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94276" y="31638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describing an entity (e.g. Name, Age)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6156" y="19202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11996" y="2011680"/>
            <a:ext cx="1554480" cy="640080"/>
          </a:xfrm>
          <a:prstGeom prst="diamond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106156" y="2852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89036" y="31638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association between entities (e.g. works-for)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CARDINALITY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371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8680" y="5330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623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↔ Parking space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71416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700016" y="48371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00016" y="5330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5623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↔ Employees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02752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531352" y="48371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: N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531352" y="5330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31352" y="5623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↔ Courses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 &amp; SQL Essentials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relational terms map to SQL, in practice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04288"/>
            <a:ext cx="5394960" cy="502920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04288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29661" y="23042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29661" y="28072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/ Record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5394960" cy="502920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10128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29661" y="33101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/ Field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13048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29661" y="38130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allowed values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15968"/>
            <a:ext cx="5394960" cy="502920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15968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Superkey / Primary Key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29661" y="4315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a tuple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0474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SQL COMMANDS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41324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132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441448" y="541324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2441448" y="54132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42816" y="541324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242816" y="54132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907024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9070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441448" y="5907024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2441448" y="59070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42816" y="5907024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242816" y="59070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37960" y="192024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21295C"/>
          </a:solidFill>
          <a:ln/>
        </p:spPr>
      </p:sp>
      <p:sp>
        <p:nvSpPr>
          <p:cNvPr id="32" name="Shape 30"/>
          <p:cNvSpPr/>
          <p:nvPr/>
        </p:nvSpPr>
        <p:spPr>
          <a:xfrm>
            <a:off x="6766560" y="2121408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33" name="Shape 31"/>
          <p:cNvSpPr/>
          <p:nvPr/>
        </p:nvSpPr>
        <p:spPr>
          <a:xfrm>
            <a:off x="6976872" y="2121408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34" name="Shape 32"/>
          <p:cNvSpPr/>
          <p:nvPr/>
        </p:nvSpPr>
        <p:spPr>
          <a:xfrm>
            <a:off x="7187184" y="2121408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35" name="Text 33"/>
          <p:cNvSpPr/>
          <p:nvPr/>
        </p:nvSpPr>
        <p:spPr>
          <a:xfrm>
            <a:off x="7360920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query.sql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251460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CustomerName, City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Country = 'Mexico'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CustomerName;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Aggregate example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AVG(Price) AS AvgPrice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Products;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0" y="4617720"/>
            <a:ext cx="4389120" cy="18288"/>
          </a:xfrm>
          <a:prstGeom prst="rect">
            <a:avLst/>
          </a:prstGeom>
          <a:solidFill>
            <a:srgbClr val="3E5C86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48006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 clause filters rows; ORDER BY sorts the result set; aggregate functions like AVG(), SUM(), COUNT(), MIN(), and MAX() summarize a column (NULLs are ignored).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2026-09-12T13:24:18Z</dcterms:created>
  <dcterms:modified xsi:type="dcterms:W3CDTF">2026-09-12T13:24:18Z</dcterms:modified>
</cp:coreProperties>
</file>